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  <p:embeddedFontLst>
    <p:embeddedFont>
      <p:font typeface="Raleway SemiBold" charset="0"/>
      <p:regular r:id="rId18"/>
      <p:bold r:id="rId19"/>
      <p:italic r:id="rId20"/>
      <p:boldItalic r:id="rId21"/>
    </p:embeddedFont>
    <p:embeddedFont>
      <p:font typeface="Raleway" charset="0"/>
      <p:regular r:id="rId22"/>
      <p:bold r:id="rId23"/>
      <p:italic r:id="rId24"/>
      <p:boldItalic r:id="rId25"/>
    </p:embeddedFont>
    <p:embeddedFont>
      <p:font typeface="Barlow Light" charset="0"/>
      <p:regular r:id="rId26"/>
      <p:bold r:id="rId27"/>
      <p:italic r:id="rId28"/>
      <p:boldItalic r:id="rId29"/>
    </p:embeddedFont>
    <p:embeddedFont>
      <p:font typeface="Barlow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0936069-5220-42C3-B2D5-8BE8C45D6F51}" styleName="Table_0">
    <a:wholeTbl>
      <a:tcTxStyle>
        <a:srgbClr val="000000"/>
        <a:latin typeface="Arial"/>
        <a:ea typeface="Arial"/>
        <a:cs typeface="Arial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1b700cf59b_4_11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1b700cf59b_4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f391192_04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f391192_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06f1c2d_3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606f1c2d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1b700cf59b_4_3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1b700cf59b_4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1b700cf59b_5_0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1b700cf59b_5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f391192_029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f391192_0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1d9009d28b_0_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1d9009d28b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5ed75ccf_015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5ed75ccf_0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5ed75ccf_022:notes"/>
          <p:cNvSpPr/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5ed75ccf_0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"/>
          <p:cNvSpPr txBox="1"/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4"/>
          <p:cNvSpPr txBox="1"/>
          <p:nvPr>
            <p:ph type="body" idx="1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marL="4114800" lvl="8" indent="-431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0" b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8600" b="1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+ 1 column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+ 2 columns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p9"/>
          <p:cNvSpPr txBox="1"/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9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11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hyperlink" Target="http://drive.google.com/file/d/1faqb5lphDmP97QquQOXig4i-CuIxS5GF/view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2"/>
          <p:cNvGrpSpPr/>
          <p:nvPr/>
        </p:nvGrpSpPr>
        <p:grpSpPr>
          <a:xfrm>
            <a:off x="6320752" y="2130471"/>
            <a:ext cx="2642707" cy="2430589"/>
            <a:chOff x="5122427" y="668001"/>
            <a:chExt cx="3841143" cy="3893303"/>
          </a:xfrm>
        </p:grpSpPr>
        <p:grpSp>
          <p:nvGrpSpPr>
            <p:cNvPr id="64" name="Google Shape;64;p12"/>
            <p:cNvGrpSpPr/>
            <p:nvPr/>
          </p:nvGrpSpPr>
          <p:grpSpPr>
            <a:xfrm>
              <a:off x="5144045" y="893590"/>
              <a:ext cx="2835621" cy="2964311"/>
              <a:chOff x="3860721" y="1330073"/>
              <a:chExt cx="3546743" cy="3707706"/>
            </a:xfrm>
          </p:grpSpPr>
          <p:sp>
            <p:nvSpPr>
              <p:cNvPr id="65" name="Google Shape;65;p12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2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2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2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2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2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2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2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2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2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2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2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2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2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2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2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2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2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2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2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2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2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2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2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2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2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2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2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2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2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2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2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2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2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2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2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2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2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2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2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2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2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2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2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2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2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2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2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2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2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2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2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2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2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5539517" y="3897827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2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2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2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2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2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2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2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2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2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12"/>
            <p:cNvSpPr/>
            <p:nvPr/>
          </p:nvSpPr>
          <p:spPr>
            <a:xfrm>
              <a:off x="6986665" y="3342725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2"/>
            <p:cNvSpPr/>
            <p:nvPr/>
          </p:nvSpPr>
          <p:spPr>
            <a:xfrm>
              <a:off x="7014156" y="3327342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7014156" y="3298709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7976493" y="3396565"/>
              <a:ext cx="664277" cy="383503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912754" y="3450709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2"/>
            <p:cNvSpPr/>
            <p:nvPr/>
          </p:nvSpPr>
          <p:spPr>
            <a:xfrm>
              <a:off x="7863331" y="3479190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7813984" y="3507747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7451727" y="3699575"/>
              <a:ext cx="664201" cy="38350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7387988" y="3753643"/>
              <a:ext cx="592922" cy="342381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7338565" y="3782200"/>
              <a:ext cx="581727" cy="33583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7289218" y="3810681"/>
              <a:ext cx="496361" cy="286637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7582329" y="3561435"/>
              <a:ext cx="337202" cy="194645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7800200" y="3687162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8018073" y="3812966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6687910" y="670084"/>
              <a:ext cx="163899" cy="239625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6700339" y="668001"/>
              <a:ext cx="78506" cy="96744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6715688" y="773039"/>
              <a:ext cx="96838" cy="10838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6550295" y="816287"/>
              <a:ext cx="182749" cy="260151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6687493" y="808527"/>
              <a:ext cx="141166" cy="186207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6712641" y="675415"/>
              <a:ext cx="103849" cy="127932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6716857" y="674913"/>
              <a:ext cx="104260" cy="98126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6591681" y="1319278"/>
              <a:ext cx="81988" cy="62539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6592043" y="1339232"/>
              <a:ext cx="81616" cy="42611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6550653" y="1292322"/>
              <a:ext cx="75049" cy="5813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6550998" y="1311512"/>
              <a:ext cx="74752" cy="39022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6578488" y="992358"/>
              <a:ext cx="178709" cy="30823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6627226" y="992967"/>
              <a:ext cx="177917" cy="333745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560953" y="971949"/>
              <a:ext cx="266059" cy="244904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774876" y="827227"/>
              <a:ext cx="92463" cy="32416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792998" y="823141"/>
              <a:ext cx="55907" cy="71103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683350" y="808424"/>
              <a:ext cx="47823" cy="5021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3" name="Google Shape;203;p12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avLst/>
                <a:gdLst/>
                <a:ahLst/>
                <a:cxnLst/>
                <a:rect l="l" t="t" r="r" b="b"/>
                <a:pathLst>
                  <a:path w="217597" h="318657" extrusionOk="0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avLst/>
                <a:gdLst/>
                <a:ahLst/>
                <a:cxnLst/>
                <a:rect l="l" t="t" r="r" b="b"/>
                <a:pathLst>
                  <a:path w="40647" h="235450" extrusionOk="0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avLst/>
                <a:gdLst/>
                <a:ahLst/>
                <a:cxnLst/>
                <a:rect l="l" t="t" r="r" b="b"/>
                <a:pathLst>
                  <a:path w="103921" h="128329" extrusionOk="0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avLst/>
                <a:gdLst/>
                <a:ahLst/>
                <a:cxnLst/>
                <a:rect l="l" t="t" r="r" b="b"/>
                <a:pathLst>
                  <a:path w="128622" h="143860" extrusionOk="0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avLst/>
                <a:gdLst/>
                <a:ahLst/>
                <a:cxnLst/>
                <a:rect l="l" t="t" r="r" b="b"/>
                <a:pathLst>
                  <a:path w="187397" h="215209" extrusionOk="0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2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avLst/>
                <a:gdLst/>
                <a:ahLst/>
                <a:cxnLst/>
                <a:rect l="l" t="t" r="r" b="b"/>
                <a:pathLst>
                  <a:path w="138529" h="170431" extrusionOk="0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2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avLst/>
                <a:gdLst/>
                <a:ahLst/>
                <a:cxnLst/>
                <a:rect l="l" t="t" r="r" b="b"/>
                <a:pathLst>
                  <a:path w="138474" h="130867" extrusionOk="0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avLst/>
                <a:gdLst/>
                <a:ahLst/>
                <a:cxnLst/>
                <a:rect l="l" t="t" r="r" b="b"/>
                <a:pathLst>
                  <a:path w="93089" h="307779" extrusionOk="0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avLst/>
                <a:gdLst/>
                <a:ahLst/>
                <a:cxnLst/>
                <a:rect l="l" t="t" r="r" b="b"/>
                <a:pathLst>
                  <a:path w="108744" h="83141" extrusionOk="0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56238" extrusionOk="0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avLst/>
                <a:gdLst/>
                <a:ahLst/>
                <a:cxnLst/>
                <a:rect l="l" t="t" r="r" b="b"/>
                <a:pathLst>
                  <a:path w="99827" h="77341" extrusionOk="0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2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avLst/>
                <a:gdLst/>
                <a:ahLst/>
                <a:cxnLst/>
                <a:rect l="l" t="t" r="r" b="b"/>
                <a:pathLst>
                  <a:path w="99536" h="51729" extrusionOk="0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2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avLst/>
                <a:gdLst/>
                <a:ahLst/>
                <a:cxnLst/>
                <a:rect l="l" t="t" r="r" b="b"/>
                <a:pathLst>
                  <a:path w="213068" h="744450" extrusionOk="0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avLst/>
                <a:gdLst/>
                <a:ahLst/>
                <a:cxnLst/>
                <a:rect l="l" t="t" r="r" b="b"/>
                <a:pathLst>
                  <a:path w="226922" h="495109" extrusionOk="0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avLst/>
                <a:gdLst/>
                <a:ahLst/>
                <a:cxnLst/>
                <a:rect l="l" t="t" r="r" b="b"/>
                <a:pathLst>
                  <a:path w="76263" h="95029" extrusionOk="0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63531" h="66745" extrusionOk="0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2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2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2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2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2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avLst/>
                <a:gdLst/>
                <a:ahLst/>
                <a:cxnLst/>
                <a:rect l="l" t="t" r="r" b="b"/>
                <a:pathLst>
                  <a:path w="122876" h="95119" extrusionOk="0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avLst/>
                <a:gdLst/>
                <a:ahLst/>
                <a:cxnLst/>
                <a:rect l="l" t="t" r="r" b="b"/>
                <a:pathLst>
                  <a:path w="122242" h="63751" extrusionOk="0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avLst/>
                <a:gdLst/>
                <a:ahLst/>
                <a:cxnLst/>
                <a:rect l="l" t="t" r="r" b="b"/>
                <a:pathLst>
                  <a:path w="122771" h="91654" extrusionOk="0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avLst/>
                <a:gdLst/>
                <a:ahLst/>
                <a:cxnLst/>
                <a:rect l="l" t="t" r="r" b="b"/>
                <a:pathLst>
                  <a:path w="122230" h="63800" extrusionOk="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2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avLst/>
                <a:gdLst/>
                <a:ahLst/>
                <a:cxnLst/>
                <a:rect l="l" t="t" r="r" b="b"/>
                <a:pathLst>
                  <a:path w="211613" h="606004" extrusionOk="0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2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avLst/>
                <a:gdLst/>
                <a:ahLst/>
                <a:cxnLst/>
                <a:rect l="l" t="t" r="r" b="b"/>
                <a:pathLst>
                  <a:path w="135319" h="132132" extrusionOk="0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avLst/>
                <a:gdLst/>
                <a:ahLst/>
                <a:cxnLst/>
                <a:rect l="l" t="t" r="r" b="b"/>
                <a:pathLst>
                  <a:path w="192267" h="377666" extrusionOk="0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avLst/>
                <a:gdLst/>
                <a:ahLst/>
                <a:cxnLst/>
                <a:rect l="l" t="t" r="r" b="b"/>
                <a:pathLst>
                  <a:path w="219367" h="442443" extrusionOk="0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2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avLst/>
                <a:gdLst/>
                <a:ahLst/>
                <a:cxnLst/>
                <a:rect l="l" t="t" r="r" b="b"/>
                <a:pathLst>
                  <a:path w="146094" h="177613" extrusionOk="0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2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avLst/>
                <a:gdLst/>
                <a:ahLst/>
                <a:cxnLst/>
                <a:rect l="l" t="t" r="r" b="b"/>
                <a:pathLst>
                  <a:path w="154031" h="152067" extrusionOk="0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avLst/>
                <a:gdLst/>
                <a:ahLst/>
                <a:cxnLst/>
                <a:rect l="l" t="t" r="r" b="b"/>
                <a:pathLst>
                  <a:path w="196972" h="338613" extrusionOk="0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avLst/>
                <a:gdLst/>
                <a:ahLst/>
                <a:cxnLst/>
                <a:rect l="l" t="t" r="r" b="b"/>
                <a:pathLst>
                  <a:path w="228028" h="306609" extrusionOk="0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avLst/>
                <a:gdLst/>
                <a:ahLst/>
                <a:cxnLst/>
                <a:rect l="l" t="t" r="r" b="b"/>
                <a:pathLst>
                  <a:path w="115992" h="56976" extrusionOk="0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avLst/>
                <a:gdLst/>
                <a:ahLst/>
                <a:cxnLst/>
                <a:rect l="l" t="t" r="r" b="b"/>
                <a:pathLst>
                  <a:path w="71478" h="59099" extrusionOk="0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2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avLst/>
                <a:gdLst/>
                <a:ahLst/>
                <a:cxnLst/>
                <a:rect l="l" t="t" r="r" b="b"/>
                <a:pathLst>
                  <a:path w="70866" h="103155" extrusionOk="0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2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avLst/>
                <a:gdLst/>
                <a:ahLst/>
                <a:cxnLst/>
                <a:rect l="l" t="t" r="r" b="b"/>
                <a:pathLst>
                  <a:path w="85975" h="128318" extrusionOk="0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" name="Google Shape;253;p12"/>
            <p:cNvSpPr/>
            <p:nvPr/>
          </p:nvSpPr>
          <p:spPr>
            <a:xfrm>
              <a:off x="7297552" y="1119942"/>
              <a:ext cx="135609" cy="26640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7309787" y="1745656"/>
              <a:ext cx="93295" cy="72283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7310617" y="1769417"/>
              <a:ext cx="92899" cy="48456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7197828" y="1680648"/>
              <a:ext cx="93274" cy="69610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7198064" y="1702707"/>
              <a:ext cx="92850" cy="48456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7221254" y="1360384"/>
              <a:ext cx="326700" cy="394943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7417903" y="1095544"/>
              <a:ext cx="102781" cy="99997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7381720" y="1109556"/>
              <a:ext cx="166775" cy="325513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413797" y="991818"/>
              <a:ext cx="110760" cy="134864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17935" y="980032"/>
              <a:ext cx="116886" cy="115512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364000" y="1109861"/>
              <a:ext cx="53839" cy="78361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7794459" y="3551002"/>
              <a:ext cx="540508" cy="312148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824798" y="3491907"/>
              <a:ext cx="469764" cy="181297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794490" y="3623727"/>
              <a:ext cx="41046" cy="82625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8298847" y="3624184"/>
              <a:ext cx="36096" cy="82168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842237" y="3535238"/>
              <a:ext cx="449908" cy="259679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815050" y="3673683"/>
              <a:ext cx="491482" cy="17632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794490" y="3472184"/>
              <a:ext cx="540453" cy="312196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7752377" y="3752957"/>
              <a:ext cx="148877" cy="85976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7787483" y="3773138"/>
              <a:ext cx="113771" cy="106232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7465892" y="3799784"/>
              <a:ext cx="344817" cy="254127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8113340" y="4275363"/>
              <a:ext cx="345579" cy="199519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8345604" y="3658605"/>
              <a:ext cx="79241" cy="172485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8356722" y="3587657"/>
              <a:ext cx="56961" cy="109603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8165307" y="4346248"/>
              <a:ext cx="122882" cy="68919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8165313" y="4357988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8255166" y="4305930"/>
              <a:ext cx="122882" cy="68953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2"/>
            <p:cNvSpPr/>
            <p:nvPr/>
          </p:nvSpPr>
          <p:spPr>
            <a:xfrm>
              <a:off x="8255174" y="4317703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8198325" y="3858200"/>
              <a:ext cx="179678" cy="5072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8224549" y="3442293"/>
              <a:ext cx="130417" cy="208730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8197056" y="3589895"/>
              <a:ext cx="200560" cy="332104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8000839" y="3631642"/>
              <a:ext cx="254644" cy="198374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8187055" y="3627341"/>
              <a:ext cx="77484" cy="113419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8224358" y="3433131"/>
              <a:ext cx="126435" cy="139356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12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90" name="Google Shape;290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2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96" name="Google Shape;296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1" name="Google Shape;301;p12"/>
            <p:cNvSpPr/>
            <p:nvPr/>
          </p:nvSpPr>
          <p:spPr>
            <a:xfrm>
              <a:off x="7451033" y="1163186"/>
              <a:ext cx="126280" cy="353110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7509451" y="1160411"/>
              <a:ext cx="72725" cy="98625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3" name="Google Shape;303;p12"/>
            <p:cNvGrpSpPr/>
            <p:nvPr/>
          </p:nvGrpSpPr>
          <p:grpSpPr>
            <a:xfrm flipH="1">
              <a:off x="8183210" y="2407472"/>
              <a:ext cx="780360" cy="1195999"/>
              <a:chOff x="3975528" y="3303922"/>
              <a:chExt cx="780360" cy="1195999"/>
            </a:xfrm>
          </p:grpSpPr>
          <p:sp>
            <p:nvSpPr>
              <p:cNvPr id="304" name="Google Shape;304;p12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2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311" extrusionOk="0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1032319" extrusionOk="0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2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501" extrusionOk="0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2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688" h="721899" extrusionOk="0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2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2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399097" extrusionOk="0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2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avLst/>
                <a:gdLst/>
                <a:ahLst/>
                <a:cxnLst/>
                <a:rect l="l" t="t" r="r" b="b"/>
                <a:pathLst>
                  <a:path w="154251" h="303342" extrusionOk="0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avLst/>
                <a:gdLst/>
                <a:ahLst/>
                <a:cxnLst/>
                <a:rect l="l" t="t" r="r" b="b"/>
                <a:pathLst>
                  <a:path w="106588" h="82319" extrusionOk="0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2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avLst/>
                <a:gdLst/>
                <a:ahLst/>
                <a:cxnLst/>
                <a:rect l="l" t="t" r="r" b="b"/>
                <a:pathLst>
                  <a:path w="106123" h="55368" extrusionOk="0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2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avLst/>
                <a:gdLst/>
                <a:ahLst/>
                <a:cxnLst/>
                <a:rect l="l" t="t" r="r" b="b"/>
                <a:pathLst>
                  <a:path w="106576" h="79516" extrusionOk="0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avLst/>
                <a:gdLst/>
                <a:ahLst/>
                <a:cxnLst/>
                <a:rect l="l" t="t" r="r" b="b"/>
                <a:pathLst>
                  <a:path w="106154" h="55320" extrusionOk="0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2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avLst/>
                <a:gdLst/>
                <a:ahLst/>
                <a:cxnLst/>
                <a:rect l="l" t="t" r="r" b="b"/>
                <a:pathLst>
                  <a:path w="372536" h="450662" extrusionOk="0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2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avLst/>
                <a:gdLst/>
                <a:ahLst/>
                <a:cxnLst/>
                <a:rect l="l" t="t" r="r" b="b"/>
                <a:pathLst>
                  <a:path w="117160" h="114020" extrusionOk="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2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avLst/>
                <a:gdLst/>
                <a:ahLst/>
                <a:cxnLst/>
                <a:rect l="l" t="t" r="r" b="b"/>
                <a:pathLst>
                  <a:path w="189574" h="370837" extrusionOk="0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2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avLst/>
                <a:gdLst/>
                <a:ahLst/>
                <a:cxnLst/>
                <a:rect l="l" t="t" r="r" b="b"/>
                <a:pathLst>
                  <a:path w="126365" h="153696" extrusionOk="0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2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avLst/>
                <a:gdLst/>
                <a:ahLst/>
                <a:cxnLst/>
                <a:rect l="l" t="t" r="r" b="b"/>
                <a:pathLst>
                  <a:path w="133256" h="131805" extrusionOk="0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avLst/>
                <a:gdLst/>
                <a:ahLst/>
                <a:cxnLst/>
                <a:rect l="l" t="t" r="r" b="b"/>
                <a:pathLst>
                  <a:path w="61436" h="88868" extrusionOk="0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0" name="Google Shape;330;p12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331" name="Google Shape;331;p12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99" h="174500" extrusionOk="0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2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73" h="45815" extrusionOk="0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12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09" h="118292" extrusionOk="0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12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122" h="244320" extrusionOk="0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2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421" h="245364" extrusionOk="0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6" name="Google Shape;336;p12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avLst/>
                <a:gdLst/>
                <a:ahLst/>
                <a:cxnLst/>
                <a:rect l="l" t="t" r="r" b="b"/>
                <a:pathLst>
                  <a:path w="143174" h="402337" extrusionOk="0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avLst/>
                <a:gdLst/>
                <a:ahLst/>
                <a:cxnLst/>
                <a:rect l="l" t="t" r="r" b="b"/>
                <a:pathLst>
                  <a:path w="82772" h="112806" extrusionOk="0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8" name="Google Shape;338;p12"/>
          <p:cNvSpPr txBox="1"/>
          <p:nvPr>
            <p:ph type="ctrTitle"/>
          </p:nvPr>
        </p:nvSpPr>
        <p:spPr>
          <a:xfrm>
            <a:off x="743150" y="327700"/>
            <a:ext cx="6357900" cy="208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Multi Lingual Sign 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Language Interpreter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339;p12"/>
          <p:cNvSpPr txBox="1"/>
          <p:nvPr/>
        </p:nvSpPr>
        <p:spPr>
          <a:xfrm>
            <a:off x="834500" y="3672125"/>
            <a:ext cx="2971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17. Atharv Mali    (12110714 )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18. Shubham Mali (12110360)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20.Gitesh Mane (12110610)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21. Pratik Masani (12111038)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743150" y="2130475"/>
            <a:ext cx="6175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EnTC C Batch 1 (Gp. 5)                             Date: </a:t>
            </a:r>
            <a:r>
              <a:rPr lang="en-US" altLang="en-GB">
                <a:latin typeface="Barlow Light"/>
                <a:ea typeface="Barlow Light"/>
                <a:cs typeface="Barlow Light"/>
                <a:sym typeface="Barlow Light"/>
              </a:rPr>
              <a:t>27</a:t>
            </a: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/03/2023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743150" y="2901300"/>
            <a:ext cx="232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Guide : Puja Cholke Ma’am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342" name="Google Shape;342;p1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72925" y="43500"/>
            <a:ext cx="1471075" cy="14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 txBox="1"/>
          <p:nvPr/>
        </p:nvSpPr>
        <p:spPr>
          <a:xfrm>
            <a:off x="3413325" y="2901300"/>
            <a:ext cx="1905000" cy="8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OPP Course Project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latin typeface="Barlow Light"/>
                <a:ea typeface="Barlow Light"/>
                <a:cs typeface="Barlow Light"/>
                <a:sym typeface="Barlow Light"/>
              </a:rPr>
              <a:t>End </a:t>
            </a:r>
            <a:r>
              <a:rPr lang="en-GB">
                <a:latin typeface="Barlow Light"/>
                <a:ea typeface="Barlow Light"/>
                <a:cs typeface="Barlow Light"/>
                <a:sym typeface="Barlow Light"/>
              </a:rPr>
              <a:t>semester review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 txBox="1"/>
          <p:nvPr>
            <p:ph type="ctrTitle"/>
          </p:nvPr>
        </p:nvSpPr>
        <p:spPr>
          <a:xfrm>
            <a:off x="271650" y="199850"/>
            <a:ext cx="4962600" cy="10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</a:t>
            </a:r>
            <a:endParaRPr lang="en-GB"/>
          </a:p>
        </p:txBody>
      </p:sp>
      <p:sp>
        <p:nvSpPr>
          <p:cNvPr id="349" name="Google Shape;349;p13"/>
          <p:cNvSpPr txBox="1"/>
          <p:nvPr/>
        </p:nvSpPr>
        <p:spPr>
          <a:xfrm>
            <a:off x="271650" y="1563500"/>
            <a:ext cx="71226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Barlow"/>
                <a:ea typeface="Barlow"/>
                <a:cs typeface="Barlow"/>
                <a:sym typeface="Barlow"/>
              </a:rPr>
              <a:t>What is Sign language ?</a:t>
            </a:r>
            <a:endParaRPr sz="2000" b="1">
              <a:latin typeface="Barlow"/>
              <a:ea typeface="Barlow"/>
              <a:cs typeface="Barlow"/>
              <a:sym typeface="Barlow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Barlow Light"/>
              <a:buChar char="●"/>
            </a:pPr>
            <a:r>
              <a:rPr lang="en-GB" sz="2000">
                <a:latin typeface="Barlow Light"/>
                <a:ea typeface="Barlow Light"/>
                <a:cs typeface="Barlow Light"/>
                <a:sym typeface="Barlow Light"/>
              </a:rPr>
              <a:t>American Sign Language has predominantly used sign language. </a:t>
            </a: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Barlow Light"/>
              <a:buChar char="●"/>
            </a:pPr>
            <a:r>
              <a:rPr lang="en-GB" sz="2000">
                <a:latin typeface="Barlow Light"/>
                <a:ea typeface="Barlow Light"/>
                <a:cs typeface="Barlow Light"/>
                <a:sym typeface="Barlow Light"/>
              </a:rPr>
              <a:t>As we know that most deaf people in India tend to use sign language but still, it is not widely used for teaching purposes in schools.</a:t>
            </a: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Barlow Light"/>
              <a:buChar char="●"/>
            </a:pPr>
            <a:r>
              <a:rPr lang="en-GB" sz="2000">
                <a:latin typeface="Barlow Light"/>
                <a:ea typeface="Barlow Light"/>
                <a:cs typeface="Barlow Light"/>
                <a:sym typeface="Barlow Light"/>
              </a:rPr>
              <a:t> In this project will will try to detect sign language and convert it into  multiple languages  after that detected  sign will convert into speech format.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350" name="Google Shape;350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79650" y="0"/>
            <a:ext cx="2364350" cy="282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 txBox="1"/>
          <p:nvPr>
            <p:ph type="ctrTitle" idx="4294967295"/>
          </p:nvPr>
        </p:nvSpPr>
        <p:spPr>
          <a:xfrm>
            <a:off x="-50" y="47053"/>
            <a:ext cx="7535400" cy="11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Literature Survey</a:t>
            </a:r>
            <a:endParaRPr sz="3600"/>
          </a:p>
        </p:txBody>
      </p:sp>
      <p:sp>
        <p:nvSpPr>
          <p:cNvPr id="356" name="Google Shape;356;p14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357" name="Google Shape;357;p14"/>
          <p:cNvGrpSpPr/>
          <p:nvPr/>
        </p:nvGrpSpPr>
        <p:grpSpPr>
          <a:xfrm>
            <a:off x="8082327" y="2431685"/>
            <a:ext cx="885996" cy="2673675"/>
            <a:chOff x="5678143" y="1151382"/>
            <a:chExt cx="345795" cy="1043508"/>
          </a:xfrm>
        </p:grpSpPr>
        <p:sp>
          <p:nvSpPr>
            <p:cNvPr id="358" name="Google Shape;358;p14"/>
            <p:cNvSpPr/>
            <p:nvPr/>
          </p:nvSpPr>
          <p:spPr>
            <a:xfrm>
              <a:off x="5678143" y="1995246"/>
              <a:ext cx="345795" cy="199644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781662" y="1153715"/>
              <a:ext cx="174078" cy="254926"/>
            </a:xfrm>
            <a:custGeom>
              <a:avLst/>
              <a:gdLst/>
              <a:ahLst/>
              <a:cxnLst/>
              <a:rect l="l" t="t" r="r" b="b"/>
              <a:pathLst>
                <a:path w="217597" h="318657" extrusionOk="0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5776639" y="1337053"/>
              <a:ext cx="32518" cy="188360"/>
            </a:xfrm>
            <a:custGeom>
              <a:avLst/>
              <a:gdLst/>
              <a:ahLst/>
              <a:cxnLst/>
              <a:rect l="l" t="t" r="r" b="b"/>
              <a:pathLst>
                <a:path w="40647" h="235450" extrusionOk="0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5795186" y="1151382"/>
              <a:ext cx="83137" cy="102663"/>
            </a:xfrm>
            <a:custGeom>
              <a:avLst/>
              <a:gdLst/>
              <a:ahLst/>
              <a:cxnLst/>
              <a:rect l="l" t="t" r="r" b="b"/>
              <a:pathLst>
                <a:path w="103921" h="128329" extrusionOk="0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5811517" y="1263498"/>
              <a:ext cx="102898" cy="115088"/>
            </a:xfrm>
            <a:custGeom>
              <a:avLst/>
              <a:gdLst/>
              <a:ahLst/>
              <a:cxnLst/>
              <a:rect l="l" t="t" r="r" b="b"/>
              <a:pathLst>
                <a:path w="128622" h="143860" extrusionOk="0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5781607" y="1300507"/>
              <a:ext cx="149918" cy="172167"/>
            </a:xfrm>
            <a:custGeom>
              <a:avLst/>
              <a:gdLst/>
              <a:ahLst/>
              <a:cxnLst/>
              <a:rect l="l" t="t" r="r" b="b"/>
              <a:pathLst>
                <a:path w="187397" h="215209" extrusionOk="0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5808246" y="1159602"/>
              <a:ext cx="110823" cy="136345"/>
            </a:xfrm>
            <a:custGeom>
              <a:avLst/>
              <a:gdLst/>
              <a:ahLst/>
              <a:cxnLst/>
              <a:rect l="l" t="t" r="r" b="b"/>
              <a:pathLst>
                <a:path w="138529" h="170431" extrusionOk="0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5812703" y="1158869"/>
              <a:ext cx="110779" cy="104694"/>
            </a:xfrm>
            <a:custGeom>
              <a:avLst/>
              <a:gdLst/>
              <a:ahLst/>
              <a:cxnLst/>
              <a:rect l="l" t="t" r="r" b="b"/>
              <a:pathLst>
                <a:path w="138474" h="130867" extrusionOk="0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5898276" y="1323720"/>
              <a:ext cx="74471" cy="246223"/>
            </a:xfrm>
            <a:custGeom>
              <a:avLst/>
              <a:gdLst/>
              <a:ahLst/>
              <a:cxnLst/>
              <a:rect l="l" t="t" r="r" b="b"/>
              <a:pathLst>
                <a:path w="93089" h="307779" extrusionOk="0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5831068" y="2061801"/>
              <a:ext cx="86995" cy="66513"/>
            </a:xfrm>
            <a:custGeom>
              <a:avLst/>
              <a:gdLst/>
              <a:ahLst/>
              <a:cxnLst/>
              <a:rect l="l" t="t" r="r" b="b"/>
              <a:pathLst>
                <a:path w="108744" h="83141" extrusionOk="0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5831514" y="2082973"/>
              <a:ext cx="86563" cy="44990"/>
            </a:xfrm>
            <a:custGeom>
              <a:avLst/>
              <a:gdLst/>
              <a:ahLst/>
              <a:cxnLst/>
              <a:rect l="l" t="t" r="r" b="b"/>
              <a:pathLst>
                <a:path w="108204" h="56238" extrusionOk="0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764925" y="2047104"/>
              <a:ext cx="79862" cy="61873"/>
            </a:xfrm>
            <a:custGeom>
              <a:avLst/>
              <a:gdLst/>
              <a:ahLst/>
              <a:cxnLst/>
              <a:rect l="l" t="t" r="r" b="b"/>
              <a:pathLst>
                <a:path w="99827" h="77341" extrusionOk="0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5764880" y="2067438"/>
              <a:ext cx="79629" cy="41383"/>
            </a:xfrm>
            <a:custGeom>
              <a:avLst/>
              <a:gdLst/>
              <a:ahLst/>
              <a:cxnLst/>
              <a:rect l="l" t="t" r="r" b="b"/>
              <a:pathLst>
                <a:path w="99536" h="51729" extrusionOk="0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5777722" y="1472916"/>
              <a:ext cx="170454" cy="595560"/>
            </a:xfrm>
            <a:custGeom>
              <a:avLst/>
              <a:gdLst/>
              <a:ahLst/>
              <a:cxnLst/>
              <a:rect l="l" t="t" r="r" b="b"/>
              <a:pathLst>
                <a:path w="213068" h="744450" extrusionOk="0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5770564" y="1458904"/>
              <a:ext cx="181538" cy="396087"/>
            </a:xfrm>
            <a:custGeom>
              <a:avLst/>
              <a:gdLst/>
              <a:ahLst/>
              <a:cxnLst/>
              <a:rect l="l" t="t" r="r" b="b"/>
              <a:pathLst>
                <a:path w="226922" h="495109" extrusionOk="0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1"/>
                </a:gs>
                <a:gs pos="100000">
                  <a:schemeClr val="accent2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895126" y="1321170"/>
              <a:ext cx="61010" cy="76023"/>
            </a:xfrm>
            <a:custGeom>
              <a:avLst/>
              <a:gdLst/>
              <a:ahLst/>
              <a:cxnLst/>
              <a:rect l="l" t="t" r="r" b="b"/>
              <a:pathLst>
                <a:path w="76263" h="95029" extrusionOk="0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5777141" y="1300603"/>
              <a:ext cx="50825" cy="53396"/>
            </a:xfrm>
            <a:custGeom>
              <a:avLst/>
              <a:gdLst/>
              <a:ahLst/>
              <a:cxnLst/>
              <a:rect l="l" t="t" r="r" b="b"/>
              <a:pathLst>
                <a:path w="63531" h="66745" extrusionOk="0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75" name="Google Shape;375;p14"/>
          <p:cNvGraphicFramePr/>
          <p:nvPr/>
        </p:nvGraphicFramePr>
        <p:xfrm>
          <a:off x="-50" y="450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{F0936069-5220-42C3-B2D5-8BE8C45D6F51}</a:tableStyleId>
              </a:tblPr>
              <a:tblGrid>
                <a:gridCol w="3816975"/>
                <a:gridCol w="2156425"/>
                <a:gridCol w="2156425"/>
              </a:tblGrid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Name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Author</a:t>
                      </a:r>
                      <a:endParaRPr lang="en-GB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Methodology</a:t>
                      </a:r>
                      <a:endParaRPr lang="en-GB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/>
                </a:tc>
              </a:tr>
              <a:tr h="1676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Real Time Sign Language Detection. International Journal for Modern Trends in Science and Technology. 8. 32-37. 10.46501/IJMTST0801006.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Pathak, Aman &amp; Kumar|priyam|priyanshu, Avinash &amp; Chugh, Gupta|gunjan &amp; Ijmtst, Editor. (2022).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highlight>
                            <a:srgbClr val="FFFFFF"/>
                          </a:highlight>
                        </a:rPr>
                        <a:t>Convolutional Neural Network (ConvNet/CNN)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highlight>
                            <a:srgbClr val="FFFFFF"/>
                          </a:highlight>
                        </a:rPr>
                        <a:t>TensorFlow,Object Detection API </a:t>
                      </a:r>
                      <a:endParaRPr lang="en-GB">
                        <a:highlight>
                          <a:srgbClr val="FFFFFF"/>
                        </a:highlight>
                      </a:endParaRPr>
                    </a:p>
                  </a:txBody>
                  <a:tcPr marL="91425" marR="91425" marT="91425" marB="91425"/>
                </a:tc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 New Data Glove Approach for Malaysian Sign Language Detection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Ahmad Zaki Shukor, Muhammad Fahmi Miskon, Muhammad Herman Jamaluddin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data-glove  approach used.The data glove is outlined with ten flex sensors,accelerometer,tilt sensors.</a:t>
                      </a:r>
                      <a:endParaRPr lang="en-GB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/>
                </a:tc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Translation of Gesture-Based Static Sign Language to Text and Speech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Sabitha Gauni* , Ankit Bastia, B Sohan Kumar, Prakhar Soni, and Vineeth Pydi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CNN used. A CNN architecture contains a convolutional layer, a max-pooling layer, also, a fully connected dense layer/hidden layer.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 lang="en-GB"/>
          </a:p>
        </p:txBody>
      </p:sp>
      <p:sp>
        <p:nvSpPr>
          <p:cNvPr id="381" name="Google Shape;381;p15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382" name="Google Shape;382;p15"/>
          <p:cNvGrpSpPr/>
          <p:nvPr/>
        </p:nvGrpSpPr>
        <p:grpSpPr>
          <a:xfrm>
            <a:off x="6056647" y="380988"/>
            <a:ext cx="2706354" cy="1604434"/>
            <a:chOff x="6986665" y="3298709"/>
            <a:chExt cx="1817809" cy="1077669"/>
          </a:xfrm>
        </p:grpSpPr>
        <p:sp>
          <p:nvSpPr>
            <p:cNvPr id="383" name="Google Shape;383;p15"/>
            <p:cNvSpPr/>
            <p:nvPr/>
          </p:nvSpPr>
          <p:spPr>
            <a:xfrm>
              <a:off x="6986665" y="3342725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7014156" y="3327342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7014156" y="3298709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7976493" y="3396565"/>
              <a:ext cx="664692" cy="383742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7912754" y="3450709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7863331" y="3479190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7813984" y="3507747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7451727" y="3699575"/>
              <a:ext cx="664616" cy="38374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7387988" y="3753643"/>
              <a:ext cx="593293" cy="342595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7338565" y="3782200"/>
              <a:ext cx="582091" cy="33604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7289218" y="3810681"/>
              <a:ext cx="496671" cy="286816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7582329" y="3561435"/>
              <a:ext cx="337413" cy="194766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7800200" y="3687162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8018073" y="3812966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7794459" y="3551002"/>
              <a:ext cx="540846" cy="312343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7824798" y="3491907"/>
              <a:ext cx="470058" cy="181410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7794490" y="3623727"/>
              <a:ext cx="41071" cy="82677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8298847" y="3624184"/>
              <a:ext cx="36118" cy="82219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7842237" y="3535238"/>
              <a:ext cx="450190" cy="25984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7815050" y="3673683"/>
              <a:ext cx="491790" cy="17643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7794490" y="3472184"/>
              <a:ext cx="540791" cy="312391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7752377" y="3752957"/>
              <a:ext cx="148970" cy="86030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7787483" y="3773138"/>
              <a:ext cx="113842" cy="106298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465892" y="3799784"/>
              <a:ext cx="345033" cy="254286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15"/>
          <p:cNvSpPr txBox="1"/>
          <p:nvPr/>
        </p:nvSpPr>
        <p:spPr>
          <a:xfrm>
            <a:off x="907700" y="1762340"/>
            <a:ext cx="4278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Barlow Light"/>
                <a:ea typeface="Barlow Light"/>
                <a:cs typeface="Barlow Light"/>
                <a:sym typeface="Barlow Light"/>
              </a:rPr>
              <a:t>To reduce Communication Gap between deaf and normal population</a:t>
            </a:r>
            <a:endParaRPr sz="180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907345" y="2584975"/>
            <a:ext cx="4021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E2E2E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Sign language recognition would help break down the barriers for sign language users in society.</a:t>
            </a:r>
            <a:endParaRPr sz="1800"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"/>
          <p:cNvSpPr txBox="1"/>
          <p:nvPr>
            <p:ph type="title"/>
          </p:nvPr>
        </p:nvSpPr>
        <p:spPr>
          <a:xfrm>
            <a:off x="457200" y="50275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Objectives </a:t>
            </a:r>
            <a:endParaRPr sz="4400"/>
          </a:p>
        </p:txBody>
      </p:sp>
      <p:sp>
        <p:nvSpPr>
          <p:cNvPr id="416" name="Google Shape;416;p16"/>
          <p:cNvSpPr txBox="1"/>
          <p:nvPr>
            <p:ph type="body" idx="1"/>
          </p:nvPr>
        </p:nvSpPr>
        <p:spPr>
          <a:xfrm>
            <a:off x="598250" y="1393950"/>
            <a:ext cx="6783300" cy="30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GB"/>
              <a:t>To make an easy to access application that can be used to easily interpret all the different sign languages which makes it easy to communicate with the specially abled.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GB"/>
              <a:t>After the literature review we have analyze that in the currently available models there are no multi language translator available but we plan to make a multi language translator using google APIs.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-GB"/>
              <a:t>For Example: when the sign language is interpreted it translates it and will be available to us in multiple language according to our need.</a:t>
            </a:r>
            <a:endParaRPr lang="en-GB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</a:p>
        </p:txBody>
      </p:sp>
      <p:sp>
        <p:nvSpPr>
          <p:cNvPr id="418" name="Google Shape;418;p16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Technologies  used</a:t>
            </a:r>
            <a:endParaRPr lang="en-GB"/>
          </a:p>
        </p:txBody>
      </p:sp>
      <p:sp>
        <p:nvSpPr>
          <p:cNvPr id="424" name="Google Shape;424;p17"/>
          <p:cNvSpPr txBox="1"/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Java </a:t>
            </a:r>
            <a:endParaRPr lang="en-GB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Tensorflow</a:t>
            </a:r>
            <a:endParaRPr lang="en-GB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Python </a:t>
            </a:r>
            <a:endParaRPr lang="en-GB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Opencv </a:t>
            </a:r>
            <a:endParaRPr lang="en-GB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Mediapipe</a:t>
            </a:r>
            <a:endParaRPr lang="en-GB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Android studio</a:t>
            </a:r>
            <a:endParaRPr lang="en-GB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</a:p>
        </p:txBody>
      </p:sp>
      <p:sp>
        <p:nvSpPr>
          <p:cNvPr id="425" name="Google Shape;425;p17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26" name="Google Shape;426;p17"/>
          <p:cNvPicPr preferRelativeResize="0"/>
          <p:nvPr/>
        </p:nvPicPr>
        <p:blipFill rotWithShape="1">
          <a:blip r:embed="rId1"/>
          <a:srcRect l="-1957" b="8197"/>
          <a:stretch>
            <a:fillRect/>
          </a:stretch>
        </p:blipFill>
        <p:spPr>
          <a:xfrm rot="24">
            <a:off x="4780328" y="3361445"/>
            <a:ext cx="1942269" cy="111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621850" y="2709050"/>
            <a:ext cx="96202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252050" y="2152750"/>
            <a:ext cx="113347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760688" y="990950"/>
            <a:ext cx="11334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8">
            <a:off x="4276899" y="1337502"/>
            <a:ext cx="1370725" cy="169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 txBox="1"/>
          <p:nvPr>
            <p:ph type="ctrTitle"/>
          </p:nvPr>
        </p:nvSpPr>
        <p:spPr>
          <a:xfrm>
            <a:off x="0" y="-656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Flow</a:t>
            </a:r>
            <a:endParaRPr lang="en-GB"/>
          </a:p>
        </p:txBody>
      </p:sp>
      <p:sp>
        <p:nvSpPr>
          <p:cNvPr id="436" name="Google Shape;436;p18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37" name="Google Shape;437;p18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38" name="Google Shape;438;p18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9" name="Google Shape;459;p18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60" name="Google Shape;460;p18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8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8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8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8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8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8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8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8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8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8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8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18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18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18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18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18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8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8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8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18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8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8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18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8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18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18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8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8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8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8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8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8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8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8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8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8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0" name="Google Shape;500;p18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18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30" name="Google Shape;530;p18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18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18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18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3" name="Google Shape;543;p18"/>
          <p:cNvSpPr/>
          <p:nvPr/>
        </p:nvSpPr>
        <p:spPr>
          <a:xfrm>
            <a:off x="452000" y="1283150"/>
            <a:ext cx="2406300" cy="68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4" name="Google Shape;544;p18"/>
          <p:cNvSpPr txBox="1"/>
          <p:nvPr/>
        </p:nvSpPr>
        <p:spPr>
          <a:xfrm>
            <a:off x="389775" y="1214475"/>
            <a:ext cx="2823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Created model using custom dataset of three classes for this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 like,dislike ,hello</a:t>
            </a:r>
            <a:endParaRPr lang="en-GB"/>
          </a:p>
        </p:txBody>
      </p:sp>
      <p:sp>
        <p:nvSpPr>
          <p:cNvPr id="545" name="Google Shape;545;p18"/>
          <p:cNvSpPr/>
          <p:nvPr/>
        </p:nvSpPr>
        <p:spPr>
          <a:xfrm>
            <a:off x="3436100" y="1231850"/>
            <a:ext cx="2406300" cy="68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tensorflow model we train model   then we converted into tflite model.</a:t>
            </a:r>
            <a:endParaRPr lang="en-GB"/>
          </a:p>
        </p:txBody>
      </p:sp>
      <p:sp>
        <p:nvSpPr>
          <p:cNvPr id="546" name="Google Shape;546;p18"/>
          <p:cNvSpPr/>
          <p:nvPr/>
        </p:nvSpPr>
        <p:spPr>
          <a:xfrm>
            <a:off x="2960000" y="1464050"/>
            <a:ext cx="476100" cy="21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7" name="Google Shape;547;p18"/>
          <p:cNvSpPr/>
          <p:nvPr/>
        </p:nvSpPr>
        <p:spPr>
          <a:xfrm rot="5400000">
            <a:off x="7187400" y="2369475"/>
            <a:ext cx="827100" cy="21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</a:t>
            </a:r>
            <a:endParaRPr lang="en-GB"/>
          </a:p>
        </p:txBody>
      </p:sp>
      <p:sp>
        <p:nvSpPr>
          <p:cNvPr id="548" name="Google Shape;548;p18"/>
          <p:cNvSpPr/>
          <p:nvPr/>
        </p:nvSpPr>
        <p:spPr>
          <a:xfrm>
            <a:off x="6623425" y="1195725"/>
            <a:ext cx="2009700" cy="86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Imported tflite model in android app</a:t>
            </a:r>
            <a:endParaRPr lang="en-GB"/>
          </a:p>
        </p:txBody>
      </p:sp>
      <p:sp>
        <p:nvSpPr>
          <p:cNvPr id="549" name="Google Shape;549;p18"/>
          <p:cNvSpPr/>
          <p:nvPr/>
        </p:nvSpPr>
        <p:spPr>
          <a:xfrm>
            <a:off x="3028938" y="2293763"/>
            <a:ext cx="3086100" cy="86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camera signed language detection </a:t>
            </a:r>
            <a:endParaRPr lang="en-GB"/>
          </a:p>
        </p:txBody>
      </p:sp>
      <p:sp>
        <p:nvSpPr>
          <p:cNvPr id="550" name="Google Shape;550;p18"/>
          <p:cNvSpPr/>
          <p:nvPr/>
        </p:nvSpPr>
        <p:spPr>
          <a:xfrm rot="10800000">
            <a:off x="6044446" y="2811050"/>
            <a:ext cx="1522800" cy="217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1" name="Google Shape;551;p18"/>
          <p:cNvSpPr/>
          <p:nvPr/>
        </p:nvSpPr>
        <p:spPr>
          <a:xfrm rot="-5400000">
            <a:off x="6073075" y="1254525"/>
            <a:ext cx="419100" cy="681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2" name="Google Shape;552;p18"/>
          <p:cNvSpPr/>
          <p:nvPr/>
        </p:nvSpPr>
        <p:spPr>
          <a:xfrm>
            <a:off x="4854425" y="3848450"/>
            <a:ext cx="3086100" cy="868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Real time capture  </a:t>
            </a:r>
            <a:endParaRPr lang="en-GB"/>
          </a:p>
        </p:txBody>
      </p:sp>
      <p:sp>
        <p:nvSpPr>
          <p:cNvPr id="553" name="Google Shape;553;p18"/>
          <p:cNvSpPr/>
          <p:nvPr/>
        </p:nvSpPr>
        <p:spPr>
          <a:xfrm>
            <a:off x="1436950" y="3793825"/>
            <a:ext cx="3086100" cy="1084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Capture using camera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 classifying image  whose confidence  among the classes it will convert into speech format.</a:t>
            </a:r>
            <a:endParaRPr lang="en-GB"/>
          </a:p>
        </p:txBody>
      </p:sp>
      <p:sp>
        <p:nvSpPr>
          <p:cNvPr id="554" name="Google Shape;554;p18"/>
          <p:cNvSpPr/>
          <p:nvPr/>
        </p:nvSpPr>
        <p:spPr>
          <a:xfrm rot="1235908">
            <a:off x="3964891" y="3141507"/>
            <a:ext cx="379459" cy="71193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5" name="Google Shape;555;p18"/>
          <p:cNvSpPr/>
          <p:nvPr/>
        </p:nvSpPr>
        <p:spPr>
          <a:xfrm rot="-2188819">
            <a:off x="5068800" y="3119799"/>
            <a:ext cx="379449" cy="84595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jzjkk</a:t>
            </a:r>
            <a:endParaRPr lang="en-GB"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1" name="Google Shape;561;p19"/>
          <p:cNvSpPr txBox="1"/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</a:p>
        </p:txBody>
      </p:sp>
      <p:sp>
        <p:nvSpPr>
          <p:cNvPr id="562" name="Google Shape;562;p19"/>
          <p:cNvSpPr txBox="1"/>
          <p:nvPr>
            <p:ph type="sldNum" idx="12"/>
          </p:nvPr>
        </p:nvSpPr>
        <p:spPr>
          <a:xfrm>
            <a:off x="8649025" y="467490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563" name="Google Shape;563;p19"/>
          <p:cNvGrpSpPr/>
          <p:nvPr/>
        </p:nvGrpSpPr>
        <p:grpSpPr>
          <a:xfrm>
            <a:off x="6177444" y="875437"/>
            <a:ext cx="2928488" cy="3139481"/>
            <a:chOff x="2183550" y="65875"/>
            <a:chExt cx="4483981" cy="4807045"/>
          </a:xfrm>
        </p:grpSpPr>
        <p:sp>
          <p:nvSpPr>
            <p:cNvPr id="564" name="Google Shape;564;p19"/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6" name="Google Shape;586;p19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587" name="Google Shape;587;p19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588" name="Google Shape;588;p19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19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19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1" name="Google Shape;591;p19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592" name="Google Shape;592;p19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3" name="Google Shape;593;p19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94" name="Google Shape;594;p19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19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19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19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19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19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19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19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19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19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19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19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19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19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19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19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19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19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19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19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19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19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19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19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19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19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19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19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19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9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9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19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19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19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19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9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9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9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9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9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9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9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9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9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9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9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9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9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9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9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9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9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9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9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9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9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9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9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9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9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9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9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9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9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58" name="Google Shape;658;p19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59" name="Google Shape;659;p19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60" name="Google Shape;660;p19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661;p19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19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19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" name="Google Shape;664;p19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65" name="Google Shape;665;p19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9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9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68" name="Google Shape;668;p19"/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9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9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9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9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9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7" name="Google Shape;697;p19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698" name="Google Shape;698;p1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1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1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03" name="Google Shape;703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174175"/>
            <a:ext cx="2314575" cy="39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314575" y="1174175"/>
            <a:ext cx="2314575" cy="39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29150" y="1167250"/>
            <a:ext cx="2314575" cy="39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0"/>
          <p:cNvSpPr txBox="1"/>
          <p:nvPr>
            <p:ph type="title"/>
          </p:nvPr>
        </p:nvSpPr>
        <p:spPr>
          <a:xfrm>
            <a:off x="457200" y="605600"/>
            <a:ext cx="3722400" cy="13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real time camera signed language detection</a:t>
            </a:r>
            <a:endParaRPr lang="en-GB"/>
          </a:p>
        </p:txBody>
      </p:sp>
      <p:sp>
        <p:nvSpPr>
          <p:cNvPr id="711" name="Google Shape;711;p20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712" name="Google Shape;712;p20" title="signed language detection.mp4">
            <a:hlinkClick r:id="rId1"/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098100" y="0"/>
            <a:ext cx="2872400" cy="50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1"/>
          <p:cNvSpPr txBox="1"/>
          <p:nvPr>
            <p:ph type="ctrTitle" idx="4294967295"/>
          </p:nvPr>
        </p:nvSpPr>
        <p:spPr>
          <a:xfrm>
            <a:off x="184800" y="62925"/>
            <a:ext cx="4648500" cy="12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accent1"/>
                </a:solidFill>
              </a:rPr>
              <a:t>References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718" name="Google Shape;718;p21"/>
          <p:cNvSpPr txBox="1"/>
          <p:nvPr>
            <p:ph type="subTitle" idx="4294967295"/>
          </p:nvPr>
        </p:nvSpPr>
        <p:spPr>
          <a:xfrm>
            <a:off x="679750" y="1281525"/>
            <a:ext cx="82752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arenR"/>
            </a:pPr>
            <a:r>
              <a:rPr lang="en-GB" sz="1600">
                <a:solidFill>
                  <a:srgbClr val="000000"/>
                </a:solidFill>
              </a:rPr>
              <a:t>A. Kumar, K. Thankachan and M. M. Dominic, "Sign language recognition," 2016 3rd International Conference on Recent Advances in Information Technology (RAIT), Dhanbad, India, 2016, pp. 422-428, doi: 10.1109/RAIT.2016.7507939.</a:t>
            </a:r>
            <a:endParaRPr sz="16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rabicParenR"/>
            </a:pPr>
            <a:r>
              <a:rPr lang="en-GB" sz="1600">
                <a:solidFill>
                  <a:srgbClr val="000000"/>
                </a:solidFill>
              </a:rPr>
              <a:t>V. H. Iyer, U. M. Prakash, A. Vijay and P. Sathishkumar, "Sign Language Detection using Action Recognition," 2022 2nd International Conference on Advance Computing and Innovative Technologies in Engineering (ICACITE), Greater Noida, India, 2022, pp. 1682-1685, doi: 10.1109/ICACITE53722.2022.9823484.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600"/>
              <a:buAutoNum type="arabicParenR"/>
            </a:pPr>
            <a:r>
              <a:rPr lang="en-GB" sz="1600">
                <a:solidFill>
                  <a:srgbClr val="2E2E2E"/>
                </a:solidFill>
                <a:latin typeface="Barlow"/>
                <a:ea typeface="Barlow"/>
                <a:cs typeface="Barlow"/>
                <a:sym typeface="Barlow"/>
              </a:rPr>
              <a:t>Kurz, M. J., Boring, S., Trausner, C., &amp; Prinz, W. (2020). Using augmented reality to provide sign language interpretation in a museum setting. ACM Transactions on Accessible Computing, 13(1), 1-24.</a:t>
            </a:r>
            <a:endParaRPr sz="160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600"/>
              <a:buAutoNum type="arabicParenR"/>
            </a:pPr>
            <a:r>
              <a:rPr lang="en-GB" sz="1600">
                <a:solidFill>
                  <a:srgbClr val="2E2E2E"/>
                </a:solidFill>
                <a:latin typeface="Barlow"/>
                <a:ea typeface="Barlow"/>
                <a:cs typeface="Barlow"/>
                <a:sym typeface="Barlow"/>
              </a:rPr>
              <a:t>Sharma, S., Singh, S., &amp; Dey, S. (2021). Sign language recognition using deep learning for Indian Sign Language. SN Computer Science, 2(4), 1-12.</a:t>
            </a:r>
            <a:endParaRPr sz="1600">
              <a:solidFill>
                <a:srgbClr val="2E2E2E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19" name="Google Shape;719;p21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2"/>
          <p:cNvSpPr txBox="1"/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725" name="Google Shape;725;p22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726" name="Google Shape;726;p22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22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2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22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22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2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22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22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22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22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22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22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22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22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22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22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2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22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22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3" name="Google Shape;783;p22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784" name="Google Shape;784;p22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785" name="Google Shape;785;p22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2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7" name="Google Shape;787;p22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8" name="Google Shape;788;p22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789" name="Google Shape;789;p22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790;p22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91" name="Google Shape;791;p22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2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2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22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22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2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2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2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2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22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2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2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2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2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2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2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2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2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2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2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2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2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2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2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2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2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2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2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2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2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2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2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2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2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2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2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2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2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2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2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2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2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2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2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2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2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2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2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22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" name="Google Shape;840;p22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22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22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2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2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22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22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22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22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22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22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22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22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2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22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5" name="Google Shape;855;p22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856" name="Google Shape;856;p22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857" name="Google Shape;857;p22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" name="Google Shape;858;p22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9" name="Google Shape;859;p22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" name="Google Shape;860;p22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" name="Google Shape;861;p22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62" name="Google Shape;862;p22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22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22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65" name="Google Shape;865;p22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22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22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1" name="Google Shape;871;p22"/>
          <p:cNvSpPr txBox="1"/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/>
              <a:t>THANKS!</a:t>
            </a:r>
            <a:endParaRPr sz="7200"/>
          </a:p>
        </p:txBody>
      </p:sp>
      <p:sp>
        <p:nvSpPr>
          <p:cNvPr id="872" name="Google Shape;872;p22"/>
          <p:cNvSpPr txBox="1"/>
          <p:nvPr>
            <p:ph type="subTitle" idx="4294967295"/>
          </p:nvPr>
        </p:nvSpPr>
        <p:spPr>
          <a:xfrm>
            <a:off x="-910450" y="2651525"/>
            <a:ext cx="7068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3619</Words>
  <Application>WPS Presentation</Application>
  <PresentationFormat/>
  <Paragraphs>133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Arial</vt:lpstr>
      <vt:lpstr>Raleway SemiBold</vt:lpstr>
      <vt:lpstr>Thonburi</vt:lpstr>
      <vt:lpstr>Barlow Light</vt:lpstr>
      <vt:lpstr>Raleway</vt:lpstr>
      <vt:lpstr>Calibri</vt:lpstr>
      <vt:lpstr>Helvetica Neue</vt:lpstr>
      <vt:lpstr>Barlow</vt:lpstr>
      <vt:lpstr>Georgia</vt:lpstr>
      <vt:lpstr>微软雅黑</vt:lpstr>
      <vt:lpstr>汉仪旗黑</vt:lpstr>
      <vt:lpstr>Arial Unicode MS</vt:lpstr>
      <vt:lpstr>Wingdings</vt:lpstr>
      <vt:lpstr>宋体-简</vt:lpstr>
      <vt:lpstr>苹方-简</vt:lpstr>
      <vt:lpstr>Gaoler template</vt:lpstr>
      <vt:lpstr>Language Interpreter</vt:lpstr>
      <vt:lpstr>Introduction </vt:lpstr>
      <vt:lpstr>Literature Survey</vt:lpstr>
      <vt:lpstr>Problem Statement</vt:lpstr>
      <vt:lpstr>Objectives </vt:lpstr>
      <vt:lpstr>Technologies  used</vt:lpstr>
      <vt:lpstr>Project Flow</vt:lpstr>
      <vt:lpstr>Outputs</vt:lpstr>
      <vt:lpstr>Using real time camera signed language detection</vt:lpstr>
      <vt:lpstr>References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Lingual Sign Language Interpreter</dc:title>
  <dc:creator/>
  <cp:lastModifiedBy>pratik</cp:lastModifiedBy>
  <cp:revision>1</cp:revision>
  <dcterms:created xsi:type="dcterms:W3CDTF">2023-04-26T06:11:13Z</dcterms:created>
  <dcterms:modified xsi:type="dcterms:W3CDTF">2023-04-26T06:11:13Z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1033-3.2.0.6370</vt:lpwstr>
  </property>
</Properties>
</file>